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開場一句：這次改版要解的不是教學品質，是動機——客戶為什麼明天早上還要再打開一次。
副標的三段就是全篇的骨架：好玩（B段）→ 好用（C/D/F段）→ 每天用（E段排程）。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四個數字先講 IT 運維專家的 0：出貨 24 家、啟動交付 0，這是最刺眼的一格。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這一頁是全篇的軸。三階段的重點是【順序不能顛倒】：
1) 好玩不是娛樂，是三十秒內用他自己的東西產出一次結果的驚喜。沒有這個瞬間，後面全部是上課。
2) 段 0 的資料落地說明是給 IT 與主管的「安心」，不是給使用者的體驗——第一個「動手」的動作一定要留給好玩的那一個。
3) 三要件缺一不可：只有每天會用但對他沒好處，他會覺得是我們的 KPI；只有好處但一週用一次，養不成習慣。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這一頁不用逐張唸。三個重點：
1) 比例是刻意的：L1 通用 15 張撐日活躍，MIS 6 張撐窗口動機，其他職能 20 張撐續約論述。資安包只在客戶有資安專責人員時才排。
2) 藍色★是可排程的 8 張，這是離場後唯一持續消耗算力的機制。MIS 的每日排程要用 L2-MIS-06 系統健檢，不要用 L1-01 信件摘要——IT 信不多。
3) 紅色⭐ ERP 操作問答是全庫最高價值、也是唯一需要先掛我方 ERP 手冊的一張，可行性待產品端確認。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段 0 與 E 段是兩個新增的重點（淺藍底那兩列）。段 0 過不了，後面 7.5 小時都是表演；E 段沒做透明化，客戶第四週會一次全關。
B 段被刻意放在介面導覽之前——先好玩，才有人願意聽後面的。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結尾：建議先取得產品端三題的答案，再挑 1～2 家 A 級製造業客戶試跑取得基線，之後才定版。所有目標值目前都是未校準的設計建議值。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46120"/>
            <a:ext cx="12161520" cy="36118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828800" cy="44805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141732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AgentSpace / Edge 交付方法論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0848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小時改版　—　先好玩，才好用，才會每天用</a:t>
            </a:r>
            <a:endParaRPr lang="en-US" sz="1900" dirty="0"/>
          </a:p>
        </p:txBody>
      </p:sp>
      <p:sp>
        <p:nvSpPr>
          <p:cNvPr id="6" name="Shape 2"/>
          <p:cNvSpPr/>
          <p:nvPr/>
        </p:nvSpPr>
        <p:spPr>
          <a:xfrm>
            <a:off x="640080" y="2880360"/>
            <a:ext cx="10881360" cy="1298448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7" name="Shape 3"/>
          <p:cNvSpPr/>
          <p:nvPr/>
        </p:nvSpPr>
        <p:spPr>
          <a:xfrm>
            <a:off x="640080" y="2880360"/>
            <a:ext cx="91440" cy="1298448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914400" y="2971800"/>
            <a:ext cx="10424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核心主張</a:t>
            </a:r>
            <a:endParaRPr lang="en-US" sz="1150" dirty="0"/>
          </a:p>
          <a:p>
            <a:pPr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交付要建立的，是客戶</a:t>
            </a:r>
            <a:pPr indent="0" marL="0">
              <a:buNone/>
            </a:pPr>
            <a:r>
              <a:rPr lang="en-US" sz="21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每天會需要用、而且對他自己有好處</a:t>
            </a:r>
            <a:pPr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的場景。</a:t>
            </a:r>
            <a:endParaRPr lang="en-US" sz="115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而通往「每天用」的第一步，是先讓他覺得好玩 —— 不是先教他操作一套系統。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4370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v1.3 試版　|　2026-09-08　|　資安事業 · 諸葛分身產品線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5989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用數智實現創想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鼎新數智 · 鼎捷數智 · 鼎華智能 · 智互聯 · 數智空間 · 鼎捷資本　▶ 客戶服務專線：0800-888-162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371600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61520" cy="20117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鼎新數智 · 用數智實現創想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02412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一、為什麼要改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517904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 3.5H 交付的三個結構性失效（資料來源：udrih 2026-09-02 用量與出貨統計）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11480" y="1993392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993392"/>
            <a:ext cx="2697480" cy="50292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76072" y="2121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105 家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576072" y="2578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已購 AgentSpace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76072" y="28346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 8 月用量表上有數字的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真實客戶只有 6 家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00984" y="1993392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00984" y="1993392"/>
            <a:ext cx="2697480" cy="50292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465576" y="2121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家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3465576" y="2578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撐起 Edge 用量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465576" y="28346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客戶D一家吃掉絕大部分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是單點依賴，不是面的成功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90488" y="1993392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90488" y="1993392"/>
            <a:ext cx="2697480" cy="5029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355080" y="2121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17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6355080" y="2578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法規遵循專家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28346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應出貨 17、已出貨 8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已啟動交付 6（漏斗掉一半）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079992" y="1993392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79992" y="1993392"/>
            <a:ext cx="2697480" cy="502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244584" y="2121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/ 24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9244584" y="2578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運維專家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244584" y="28346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應出貨 24、已出貨 1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已啟動交付 0（完全卡住）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11480" y="3703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病根診斷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11480" y="404164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沒有「明天還要再做一次」的事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4206240" y="4041648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交付結束的那一刻，客戶手上一件都沒有。所以第二天就不會再打開。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11480" y="4544568"/>
            <a:ext cx="11338560" cy="731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11480" y="46177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教的是功能，不是工作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4206240" y="4617720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介面佈局／功能區塊／產品概念約占 35 分鐘 —— 既不好玩也不好用，不產生任何一次未來的使用。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11480" y="5120640"/>
            <a:ext cx="11338560" cy="731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11480" y="519379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驗收量的是「顧問在場時的行為」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4206240" y="5193792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熟悉功能 100%、示範 2 個場景 —— 顧問在旁邊時人人都會，跟離場 30 天後沒有因果關係。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411480" y="5696712"/>
            <a:ext cx="11338560" cy="731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8" name="Shape 35"/>
          <p:cNvSpPr/>
          <p:nvPr/>
        </p:nvSpPr>
        <p:spPr>
          <a:xfrm>
            <a:off x="411480" y="5870448"/>
            <a:ext cx="11338560" cy="566928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39" name="Shape 36"/>
          <p:cNvSpPr/>
          <p:nvPr/>
        </p:nvSpPr>
        <p:spPr>
          <a:xfrm>
            <a:off x="411480" y="5870448"/>
            <a:ext cx="68580" cy="566928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649224" y="58704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問題不是客戶不會用，是交付完之後，沒有任何理由再用第二次。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371600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61520" cy="20117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鼎新數智 · 用數智實現創想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02412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二、核心主張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517904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整套方法論只服務一件事，而且順序不能顛倒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11480" y="1828800"/>
            <a:ext cx="11338560" cy="640080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11480" y="182880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建立客戶</a:t>
            </a:r>
            <a:pPr algn="ctr" indent="0" marL="0">
              <a:buNone/>
            </a:pPr>
            <a:r>
              <a:rPr lang="en-US" sz="2200" b="1" dirty="0">
                <a:solidFill>
                  <a:srgbClr val="FFE5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每天會需要用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、且</a:t>
            </a:r>
            <a:pPr algn="ctr" indent="0" marL="0">
              <a:buNone/>
            </a:pPr>
            <a:r>
              <a:rPr lang="en-US" sz="2200" b="1" dirty="0">
                <a:solidFill>
                  <a:srgbClr val="FFE5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對他自己有好處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的場景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11480" y="2606040"/>
            <a:ext cx="363931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2606040"/>
            <a:ext cx="3639312" cy="3108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57784" y="2606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先好玩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148840" y="26060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段 · 30 分鐘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" y="2980944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「30 秒，自己的東西被處理完」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57784" y="334670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不是看顧問用假資料表演。先有一個「哇，這真的有用」的瞬間 ——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沒有這個瞬間，後面七小時都只是上課。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059936" y="3063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242816" y="2606040"/>
            <a:ext cx="363931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A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42816" y="2606040"/>
            <a:ext cx="3639312" cy="310896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389120" y="2606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才好用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980176" y="26060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C／D／F 段 · 3.75 小時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389120" y="2980944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「用自己的資料跑通，還做出一張自己的卡」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4389120" y="334670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驚喜要變成工具：選 3 張跑通、自建 1 張、跑職能包。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這一段之後，他才會說「這東西我會用」。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891272" y="3063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074152" y="2606040"/>
            <a:ext cx="363931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9D5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74152" y="2606040"/>
            <a:ext cx="3639312" cy="310896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220456" y="2606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才會每天用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811512" y="26060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 段排程 · 1 小時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220456" y="2980944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「不看會有損失的事，它自己會跑」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8220456" y="334670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工具要變成習慣：產出送到信箱與待辦，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明天早上不用他記得，也不用他特地登入。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411480" y="4059936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而「好玩→好用→每天用」跑得起來，靠的是每張場景卡都同時滿足三個要件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11480" y="4352544"/>
            <a:ext cx="36393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57784" y="43891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每天會用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557784" y="4617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不是「用了很好」，是「不看會有損失」。今天的信、今天的待辦、昨晚備份成不成功。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242816" y="4352544"/>
            <a:ext cx="36393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43891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對他自己有好處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4389120" y="4617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好處要落在窗口本人身上，不是公司、不是我們的 KPI。他要的是「今天少接幾通電話」。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074152" y="4352544"/>
            <a:ext cx="36393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0456" y="43891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五分鐘會用</a:t>
            </a:r>
            <a:endParaRPr lang="en-US" sz="1250" dirty="0"/>
          </a:p>
        </p:txBody>
      </p:sp>
      <p:sp>
        <p:nvSpPr>
          <p:cNvPr id="39" name="Text 36"/>
          <p:cNvSpPr txBox="1"/>
          <p:nvPr/>
        </p:nvSpPr>
        <p:spPr>
          <a:xfrm>
            <a:off x="8220456" y="4617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卡片寫好，只改 1～2 個參數。要改的參數超過 2 個，代表這張卡設計失敗。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11480" y="5193792"/>
            <a:ext cx="3639312" cy="457200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57784" y="52120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 全員通用 OA　15 張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2788920" y="521208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撐日活躍與用量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242816" y="5193792"/>
            <a:ext cx="3639312" cy="457200"/>
          </a:xfrm>
          <a:prstGeom prst="rect">
            <a:avLst/>
          </a:prstGeom>
          <a:solidFill>
            <a:srgbClr val="FFE9C7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389120" y="52120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L2-MIS 製造業 IT／MIS　6 張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6620256" y="521208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撐窗口本人的動機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8074152" y="5193792"/>
            <a:ext cx="3639312" cy="457200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8220456" y="52120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 其他職能　20 張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10451592" y="521208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撐深度與續約論述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411480" y="5742432"/>
            <a:ext cx="11338560" cy="566928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50" name="Shape 47"/>
          <p:cNvSpPr/>
          <p:nvPr/>
        </p:nvSpPr>
        <p:spPr>
          <a:xfrm>
            <a:off x="411480" y="5742432"/>
            <a:ext cx="82296" cy="566928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658368" y="57607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第一張卡就是那個「好玩的瞬間」：製造業窗口是 IT／MIS，他最痛的是同事問「這張單怎麼開」。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 操作問答（吃鼎新 ERP 手冊＋客戶客製規則）—— 同事自己查得到，資訊課一天少接十通電話。這是鼎新獨有、別家 AI 做不到的能力。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371600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61520" cy="20117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鼎新數智 · 用數智實現創想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02412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三、場景庫：41 張卡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517904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取代空白對話框。每張卡都寫好：誰用、什麼時候用、貼什麼進去、產出什麼、要改哪 1～2 個參數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11480" y="1920240"/>
            <a:ext cx="3657600" cy="530352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1920240"/>
            <a:ext cx="64008" cy="530352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76072" y="19568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 全員通用 OA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108960" y="19568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張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6072" y="21945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撐日活躍與用量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" y="2505456"/>
            <a:ext cx="365760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7784" y="2578608"/>
            <a:ext cx="338328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L1-01 晨間信件摘要與待辦抽取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L1-02 這封信幫我回（三種語氣）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L1-03 會議錄音 → 會議紀錄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L1-04 長文件 3 分鐘讀懂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L1-05 中英日翻譯＋商務潤飾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L1-06 週報草稿自動生成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L1-07 簡報大綱生成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L1-08 Excel 數據找異常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L1-09 客訴／需求信處理建議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L1-10 會議前 5 分鐘備戰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L1-11 公告一鍵三版本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L1-12 今日待辦整理與排序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L1-13 訪談／面試逐字稿整理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L1-14 合約／報價單重點與提醒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L1-15 本週知識沉澱進 Wiki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242816" y="1920240"/>
            <a:ext cx="3657600" cy="530352"/>
          </a:xfrm>
          <a:prstGeom prst="rect">
            <a:avLst/>
          </a:prstGeom>
          <a:solidFill>
            <a:srgbClr val="FFE9C7"/>
          </a:solidFill>
          <a:ln/>
        </p:spPr>
      </p:sp>
      <p:sp>
        <p:nvSpPr>
          <p:cNvPr id="16" name="Shape 13"/>
          <p:cNvSpPr/>
          <p:nvPr/>
        </p:nvSpPr>
        <p:spPr>
          <a:xfrm>
            <a:off x="4242816" y="1920240"/>
            <a:ext cx="64008" cy="5303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07408" y="19568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L2-MIS 製造業 IT／MIS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940296" y="19568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張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407408" y="21945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撐窗口本人的動機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42816" y="2505456"/>
            <a:ext cx="365760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389120" y="2578608"/>
            <a:ext cx="338328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L2-MIS-01 ERP 操作問答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L2-MIS-02 報修訊息分類與初步排除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L2-MIS-03 伺服器／機台 log 找異常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L2-MIS-04 原廠英文技術文件重點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L2-MIS-05 報表需求 → 技術規格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L2-MIS-06 每日系統健檢摘要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074152" y="1920240"/>
            <a:ext cx="3675888" cy="5303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Shape 20"/>
          <p:cNvSpPr/>
          <p:nvPr/>
        </p:nvSpPr>
        <p:spPr>
          <a:xfrm>
            <a:off x="8074152" y="1920240"/>
            <a:ext cx="64008" cy="53035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238744" y="1956816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 其他職能包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0" y="19568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張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238744" y="219456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撐深度與續約論述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074152" y="2505456"/>
            <a:ext cx="367588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0456" y="2578608"/>
            <a:ext cx="340156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資安專責 6 張（限有資安人員的公司）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弱點派工／法規問答／通報時限判定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★ 每日情資／告警日誌／★ 資安週報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人資 4 張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JD 撰寫／面試題／規章 Q&amp;A／訓練摘要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 4 張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會議跟進／提案大綱／競品／報價信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財會 3 張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費用政策 Q&amp;A／報表異常／月結清單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生管製造 3 張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異常單分群／SOP 改寫／供應商評估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11480" y="5029200"/>
            <a:ext cx="11338560" cy="786384"/>
          </a:xfrm>
          <a:prstGeom prst="rect">
            <a:avLst/>
          </a:prstGeom>
          <a:solidFill>
            <a:srgbClr val="EAF3EA"/>
          </a:solidFill>
          <a:ln/>
        </p:spPr>
      </p:sp>
      <p:sp>
        <p:nvSpPr>
          <p:cNvPr id="30" name="Shape 27"/>
          <p:cNvSpPr/>
          <p:nvPr/>
        </p:nvSpPr>
        <p:spPr>
          <a:xfrm>
            <a:off x="411480" y="5029200"/>
            <a:ext cx="82296" cy="786384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58368" y="506577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9D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可排程的 8 張 ＝ 用量引擎（離場後唯一會持續消耗算力的機制）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58368" y="5303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每日：L1-01 信件摘要 08:30　·　L1-12 待辦排序 09:00　·　L2-MIS-06 系統健檢 08:00　·　L2-SEC-04 情資 09:00　·　L2-SEC-05 告警日誌　　每週：L1-06 週報　·　L2-SEC-06 資安週報　·　L1-15 Wiki 沉澱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11480" y="5907024"/>
            <a:ext cx="11338560" cy="457200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34" name="Shape 31"/>
          <p:cNvSpPr/>
          <p:nvPr/>
        </p:nvSpPr>
        <p:spPr>
          <a:xfrm>
            <a:off x="411480" y="5907024"/>
            <a:ext cx="68580" cy="457200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49224" y="59070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 張裡只有 7 張需要客戶先給文件，其餘 34 張現場貼進去就能跑 —— 這是「五分鐘會用」的前提。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371600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61520" cy="20117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鼎新數智 · 用數智實現創想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02412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四、8 小時怎麼安排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517904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每一段都要回答「這一段客戶得到什麼」　·　B＝好玩、C/D/F＝好用、E＝每天用　·　標準版拆兩天（4.5H＋3.5H）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11480" y="1965960"/>
            <a:ext cx="11338560" cy="347472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4632" y="19659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段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033272" y="196596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時長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856232" y="19659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做什麼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879592" y="1965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這一段客戶得到什麼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11480" y="2313432"/>
            <a:ext cx="11338560" cy="402336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11480" y="2711196"/>
            <a:ext cx="11338560" cy="548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11480" y="231343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231343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0.5H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856232" y="2313432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資料落地與環境交付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879592" y="231343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兩份可以拿去給老闆和稽核看的文件：資料在哪、誰看得到、壞了找誰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" y="3113532"/>
            <a:ext cx="11338560" cy="548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11480" y="271576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2715768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1.0H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856232" y="2715768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環境與菜單佈署（IT 必須在場）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5879592" y="271576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一台打開就有十張卡的機器；IT 全程看著怎麼裝，日後自己能先查一輪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11480" y="3118104"/>
            <a:ext cx="11338560" cy="402336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25" name="Shape 22"/>
          <p:cNvSpPr/>
          <p:nvPr/>
        </p:nvSpPr>
        <p:spPr>
          <a:xfrm>
            <a:off x="411480" y="3515868"/>
            <a:ext cx="11338560" cy="548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11480" y="311810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60120" y="311810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0.5H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856232" y="3118104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先做再說（不做介面導覽）← 好玩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5879592" y="311810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三十秒內第一次「這東西真的有用」，用的是自己手上的東西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11480" y="3918204"/>
            <a:ext cx="11338560" cy="548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11480" y="352044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60120" y="352044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1.5H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856232" y="352044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場景菜單走查＋每人選 3 張 ← 好用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5879592" y="352044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每人三張自己選、當場跑通的用法，回座位就能繼續用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11480" y="4320540"/>
            <a:ext cx="11338560" cy="548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11480" y="392277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960120" y="3922776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1.25H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856232" y="392277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場景精靈：自建 1 張卡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5879592" y="392277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一張只有你們公司有的卡；訣竅被存下來，新人直接用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11480" y="4325112"/>
            <a:ext cx="11338560" cy="402336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41" name="Shape 38"/>
          <p:cNvSpPr/>
          <p:nvPr/>
        </p:nvSpPr>
        <p:spPr>
          <a:xfrm>
            <a:off x="411480" y="4722876"/>
            <a:ext cx="11338560" cy="548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11480" y="432511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960120" y="432511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1.0H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856232" y="4325112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排程設定＋點數透明化 ← 每天用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5879592" y="432511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明天起有兩件事不用你記得做；而且知道一個月花多少點、怎麼關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411480" y="5125212"/>
            <a:ext cx="11338560" cy="548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411480" y="472744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960120" y="4727448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1.0H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1856232" y="4727448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部門職能深化（製造業預設跑 MIS 包）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5879592" y="472744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跟本職工作最貼的那幾張，不是通用辦公室場景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11480" y="5527548"/>
            <a:ext cx="11338560" cy="548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411480" y="512978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960120" y="512978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0.25H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1856232" y="5129784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主管承諾週會 5 分鐘 demo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5879592" y="512978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變成部門例行事，不靠個人熱情；用 AI 不會被說不務正業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411480" y="5929884"/>
            <a:ext cx="11338560" cy="548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411480" y="553212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</a:t>
            </a:r>
            <a:endParaRPr lang="en-US" sz="1200" dirty="0"/>
          </a:p>
        </p:txBody>
      </p:sp>
      <p:sp>
        <p:nvSpPr>
          <p:cNvPr id="58" name="Text 55"/>
          <p:cNvSpPr txBox="1"/>
          <p:nvPr/>
        </p:nvSpPr>
        <p:spPr>
          <a:xfrm>
            <a:off x="960120" y="55321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1.0H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856232" y="553212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逐人檢核與離場</a:t>
            </a:r>
            <a:endParaRPr lang="en-US" sz="1150" dirty="0"/>
          </a:p>
        </p:txBody>
      </p:sp>
      <p:sp>
        <p:nvSpPr>
          <p:cNvPr id="60" name="Text 57"/>
          <p:cNvSpPr txBox="1"/>
          <p:nvPr/>
        </p:nvSpPr>
        <p:spPr>
          <a:xfrm>
            <a:off x="5879592" y="553212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確認每個人真的帶得走；沒學會的我方免費再來一次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411480" y="6016752"/>
            <a:ext cx="11338560" cy="457200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62" name="Shape 59"/>
          <p:cNvSpPr/>
          <p:nvPr/>
        </p:nvSpPr>
        <p:spPr>
          <a:xfrm>
            <a:off x="411480" y="6016752"/>
            <a:ext cx="68580" cy="457200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649224" y="601675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排程是唯一「人不操作也在跑」的機制 —— 但一定要當場算點數、當場教怎麼關，客戶才敢開。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371600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61520" cy="20117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鼎新數智 · 用數智實現創想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02412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五、怎麼驗收、怎麼經營、還缺什麼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517904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驗收從「顧問勾選」改為「離場後的後台數據」，但對客戶一律講效益，不講活躍度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11480" y="1938528"/>
            <a:ext cx="55321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20665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驗收改版：D+7 / D+14 / D+30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" y="2432304"/>
            <a:ext cx="749808" cy="256032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" y="243230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D+7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2414016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週活躍 ≥70%｜排程成功率 ≥90%｜產出開啟率 ≥50%｜點數回饋信必寄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" y="2999232"/>
            <a:ext cx="749808" cy="256032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1792" y="299923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D+14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2980944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自建卡 ≥核心人數×1｜用量不衰退｜主管週會 demo 已跑過 1 次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" y="3566160"/>
            <a:ext cx="749808" cy="256032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1792" y="356616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D+30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3547872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月活躍 ≥70%｜擴散至未交付同仁 ≥2 人｜啟動客製分類的顧問輔導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1792" y="4169664"/>
            <a:ext cx="5120640" cy="457200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49808" y="416966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驗收不綁付款：沒過＝我方免費補訓一次，不寫成「交付未完成」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17920" y="1938528"/>
            <a:ext cx="55321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28232" y="20665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還缺什麼：卡在產品端的三題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428232" y="243230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#7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205472" y="243230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 操作問答可行性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205472" y="267004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能否掛鼎新 ERP 手冊＋客戶客製說明？授權與範圍如何界定？做不到，窗口的動機問題就無解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428232" y="312724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205472" y="312724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場景卡的平台支援度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7205472" y="336499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能否一鍵叫用／改參數重跑／分享？不支援則 D 段由 1.25H 縮為 0.5H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428232" y="38221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#9~11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205472" y="382219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資料管制與點數顯示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7205472" y="4059936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上傳阻擋、稽核 log 保留期限、排程點數顯示、信箱存取的帳號與憑證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428232" y="4169664"/>
            <a:ext cx="5120640" cy="45720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556248" y="416966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這三題答案未到，不建議排試跑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1148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成本現實與交付分級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411480" y="5138928"/>
            <a:ext cx="3639312" cy="512064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76072" y="51755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級　20～30 家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76072" y="54041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 8H（標準為兩天 4.5+3.5）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242816" y="5138928"/>
            <a:ext cx="3639312" cy="512064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4407408" y="51755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級　約 50 家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4407408" y="54041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段 0＋4.5H＋線上團班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074152" y="5138928"/>
            <a:ext cx="3639312" cy="512064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8238744" y="51755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級　其餘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8238744" y="54041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段 0 線上＋錄影＋D+7 一對一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411480" y="5815584"/>
            <a:ext cx="11338560" cy="603504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45" name="Shape 42"/>
          <p:cNvSpPr/>
          <p:nvPr/>
        </p:nvSpPr>
        <p:spPr>
          <a:xfrm>
            <a:off x="411480" y="5815584"/>
            <a:ext cx="68580" cy="603504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649224" y="581558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單家人力 5H → 14H（行前工時上修後），105 家約需 945 額外人時，故必須分級；但段 0 不分級，每一級都要做。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AgentSpace 交付方法論 8H 改版</dc:title>
  <dc:subject>PptxGenJS Presentation</dc:subject>
  <dc:creator>鼎新數智 資安事業</dc:creator>
  <cp:lastModifiedBy>鼎新數智 資安事業</cp:lastModifiedBy>
  <cp:revision>1</cp:revision>
  <dcterms:created xsi:type="dcterms:W3CDTF">2026-09-08T10:47:07Z</dcterms:created>
  <dcterms:modified xsi:type="dcterms:W3CDTF">2026-09-08T10:47:07Z</dcterms:modified>
</cp:coreProperties>
</file>